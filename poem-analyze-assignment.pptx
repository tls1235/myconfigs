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1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72765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705054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5/26/2026</a:t>
            </a:fld>
            <a:endParaRPr lang="en-US"/>
          </a:p>
        </p:txBody>
      </p:sp>
      <p:sp>
        <p:nvSpPr>
          <p:cNvPr id="449786060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2986770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92331470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948566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2411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14931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79440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79071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951277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080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1809F4-38AC-D56D-6056-0A58D9875877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1620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20970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378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6ED567-9A72-71C4-F824-7A6DA077D6CF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5337C-D94C-F776-4F0B-9D9BD6CBC6BF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93739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57993500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6463832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5/26/2026</a:t>
            </a:fld>
            <a:endParaRPr lang="en-US"/>
          </a:p>
        </p:txBody>
      </p:sp>
      <p:sp>
        <p:nvSpPr>
          <p:cNvPr id="3193400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58319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0898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4560120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2120552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5/26/2026</a:t>
            </a:fld>
            <a:endParaRPr lang="en-US"/>
          </a:p>
        </p:txBody>
      </p:sp>
      <p:sp>
        <p:nvSpPr>
          <p:cNvPr id="8375760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86099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40999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2530939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69256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5/26/2026</a:t>
            </a:fld>
            <a:endParaRPr lang="en-US"/>
          </a:p>
        </p:txBody>
      </p:sp>
      <p:sp>
        <p:nvSpPr>
          <p:cNvPr id="6215870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11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027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72893209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76310792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6192532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5/26/2026</a:t>
            </a:fld>
            <a:endParaRPr lang="en-US"/>
          </a:p>
        </p:txBody>
      </p:sp>
      <p:sp>
        <p:nvSpPr>
          <p:cNvPr id="20537597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009913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70341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705310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6116251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895028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109562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6153970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5/26/2026</a:t>
            </a:fld>
            <a:endParaRPr lang="en-US"/>
          </a:p>
        </p:txBody>
      </p:sp>
      <p:sp>
        <p:nvSpPr>
          <p:cNvPr id="18448050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610679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2404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5849331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5/26/2026</a:t>
            </a:fld>
            <a:endParaRPr lang="en-US"/>
          </a:p>
        </p:txBody>
      </p:sp>
      <p:sp>
        <p:nvSpPr>
          <p:cNvPr id="17180377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218153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47127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5/26/2026</a:t>
            </a:fld>
            <a:endParaRPr lang="en-US"/>
          </a:p>
        </p:txBody>
      </p:sp>
      <p:sp>
        <p:nvSpPr>
          <p:cNvPr id="209665796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576558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6766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06594094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42645302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231645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5/26/2026</a:t>
            </a:fld>
            <a:endParaRPr lang="en-US"/>
          </a:p>
        </p:txBody>
      </p:sp>
      <p:sp>
        <p:nvSpPr>
          <p:cNvPr id="3359552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239593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4811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572884507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82972800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77264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5/26/2026</a:t>
            </a:fld>
            <a:endParaRPr lang="en-US"/>
          </a:p>
        </p:txBody>
      </p:sp>
      <p:sp>
        <p:nvSpPr>
          <p:cNvPr id="5136953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82648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601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30611321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5782253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5/26/2026</a:t>
            </a:fld>
            <a:endParaRPr lang="en-US"/>
          </a:p>
        </p:txBody>
      </p:sp>
      <p:sp>
        <p:nvSpPr>
          <p:cNvPr id="9988437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61320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60533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83926028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002457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5/26/2026</a:t>
            </a:fld>
            <a:endParaRPr lang="en-US"/>
          </a:p>
        </p:txBody>
      </p:sp>
      <p:sp>
        <p:nvSpPr>
          <p:cNvPr id="16390742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2296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57103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1164303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81489862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5/26/2026</a:t>
            </a:fld>
            <a:endParaRPr lang="en-US"/>
          </a:p>
        </p:txBody>
      </p:sp>
      <p:sp>
        <p:nvSpPr>
          <p:cNvPr id="23012765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2007508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34278" name="Title 1"/>
          <p:cNvSpPr>
            <a:spLocks noGrp="1"/>
          </p:cNvSpPr>
          <p:nvPr>
            <p:ph type="ctrTitle"/>
          </p:nvPr>
        </p:nvSpPr>
        <p:spPr bwMode="auto">
          <a:xfrm>
            <a:off x="9312991" y="5984721"/>
            <a:ext cx="2855214" cy="84408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>
              <a:defRPr/>
            </a:pPr>
            <a:r>
              <a:rPr lang="he-IL" sz="3000"/>
              <a:t>על ידי: יותם גפן</a:t>
            </a:r>
            <a:endParaRPr sz="3000"/>
          </a:p>
        </p:txBody>
      </p:sp>
      <p:sp>
        <p:nvSpPr>
          <p:cNvPr id="18139379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47325" y="1950807"/>
            <a:ext cx="9144000" cy="3288223"/>
          </a:xfrm>
        </p:spPr>
        <p:txBody>
          <a:bodyPr/>
          <a:lstStyle/>
          <a:p>
            <a:pPr>
              <a:defRPr/>
            </a:pPr>
            <a:r>
              <a:rPr lang="he-IL" sz="4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שיר: שיר </a:t>
            </a:r>
            <a:r>
              <a:rPr lang="he-IL" sz="4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אושר</a:t>
            </a:r>
            <a:endParaRPr sz="4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he-IL" sz="4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נכתב על ידי: רוני סומק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500" advClick="1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764458" name="Title 1"/>
          <p:cNvSpPr>
            <a:spLocks noGrp="1"/>
          </p:cNvSpPr>
          <p:nvPr>
            <p:ph type="title"/>
          </p:nvPr>
        </p:nvSpPr>
        <p:spPr bwMode="auto">
          <a:xfrm>
            <a:off x="4817191" y="196133"/>
            <a:ext cx="1743553" cy="1325562"/>
          </a:xfrm>
        </p:spPr>
        <p:txBody>
          <a:bodyPr/>
          <a:lstStyle/>
          <a:p>
            <a:pPr>
              <a:defRPr/>
            </a:pPr>
            <a:r>
              <a:rPr lang="he-IL"/>
              <a:t>מילים:</a:t>
            </a:r>
            <a:endParaRPr/>
          </a:p>
        </p:txBody>
      </p:sp>
      <p:sp>
        <p:nvSpPr>
          <p:cNvPr id="251543481" name="Content Placeholder 2"/>
          <p:cNvSpPr>
            <a:spLocks noGrp="1"/>
          </p:cNvSpPr>
          <p:nvPr>
            <p:ph idx="1"/>
          </p:nvPr>
        </p:nvSpPr>
        <p:spPr bwMode="auto">
          <a:xfrm>
            <a:off x="2243769" y="2670584"/>
            <a:ext cx="6145161" cy="3512983"/>
          </a:xfrm>
        </p:spPr>
        <p:txBody>
          <a:bodyPr/>
          <a:lstStyle/>
          <a:p>
            <a:pPr marL="0" indent="0" algn="r">
              <a:buFont typeface="Arial"/>
              <a:buNone/>
              <a:defRPr/>
            </a:pPr>
            <a:r>
              <a:rPr sz="38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אנחנו</a:t>
            </a:r>
            <a: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מונחים</a:t>
            </a:r>
            <a: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על</a:t>
            </a:r>
            <a: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העוגה</a:t>
            </a:r>
            <a: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b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38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כמו</a:t>
            </a:r>
            <a: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בובות</a:t>
            </a:r>
            <a: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חתן</a:t>
            </a:r>
            <a: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 b="0" i="0" u="none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כלה</a:t>
            </a:r>
            <a:r>
              <a:rPr lang="he-IL" sz="3800" b="0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b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38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גם</a:t>
            </a:r>
            <a: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אם</a:t>
            </a:r>
            <a: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תבוא</a:t>
            </a:r>
            <a: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הסכין</a:t>
            </a:r>
            <a: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 b="0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br>
              <a:rPr sz="3800" b="0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3800" b="0" i="0" u="none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ננסה</a:t>
            </a:r>
            <a:r>
              <a:rPr sz="3800" b="0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להשאר</a:t>
            </a:r>
            <a: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באותה</a:t>
            </a:r>
            <a:r>
              <a:rPr sz="3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 b="0" i="0" u="none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הפרוסה</a:t>
            </a:r>
            <a:r>
              <a:rPr lang="he-IL" sz="3800" b="0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3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500" advClick="1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119125" name="Title 1"/>
          <p:cNvSpPr>
            <a:spLocks noGrp="1"/>
          </p:cNvSpPr>
          <p:nvPr>
            <p:ph type="title"/>
          </p:nvPr>
        </p:nvSpPr>
        <p:spPr bwMode="auto">
          <a:xfrm>
            <a:off x="4102681" y="365124"/>
            <a:ext cx="4324656" cy="1325562"/>
          </a:xfrm>
        </p:spPr>
        <p:txBody>
          <a:bodyPr/>
          <a:lstStyle/>
          <a:p>
            <a:pPr>
              <a:defRPr/>
            </a:pPr>
            <a:r>
              <a:rPr lang="he-IL"/>
              <a:t>משמעות השיר:</a:t>
            </a:r>
            <a:endParaRPr/>
          </a:p>
        </p:txBody>
      </p:sp>
      <p:sp>
        <p:nvSpPr>
          <p:cNvPr id="746997295" name="TextBox 746997294"/>
          <p:cNvSpPr txBox="1"/>
          <p:nvPr/>
        </p:nvSpPr>
        <p:spPr bwMode="auto">
          <a:xfrm>
            <a:off x="712177" y="1628466"/>
            <a:ext cx="11306907" cy="30418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r" rtl="1">
              <a:defRPr/>
            </a:pPr>
            <a:r>
              <a:rPr lang="he-IL" sz="2500" dirty="0" smtClean="0"/>
              <a:t>שם השיר הוא שיר אושר שכמעט מבטיח שהשיר יהיה שמח</a:t>
            </a:r>
            <a:r>
              <a:rPr lang="he-IL" sz="2500" dirty="0"/>
              <a:t>.</a:t>
            </a:r>
            <a:r>
              <a:rPr lang="he-IL" sz="2500" dirty="0" smtClean="0"/>
              <a:t> בשיר מתוארת סיטואציה בה בובות של חתן וכלה מונחות על עוגה. בשיר נכתב כי גם במצב של איום, שהוא סכין שאולי תבוא, ינסו בובות החתן והכלה להישאר באותה הפרוסה.</a:t>
            </a:r>
          </a:p>
          <a:p>
            <a:pPr algn="r" rtl="1">
              <a:defRPr/>
            </a:pPr>
            <a:r>
              <a:rPr lang="he-IL" sz="2500" dirty="0" smtClean="0"/>
              <a:t>לדעתי </a:t>
            </a:r>
            <a:r>
              <a:rPr lang="he-IL" sz="2500" dirty="0"/>
              <a:t>השיר הוא על רצון </a:t>
            </a:r>
            <a:r>
              <a:rPr lang="he-IL" sz="2500" dirty="0" smtClean="0"/>
              <a:t>להישאר </a:t>
            </a:r>
            <a:r>
              <a:rPr lang="he-IL" sz="2500" dirty="0" smtClean="0"/>
              <a:t>עם </a:t>
            </a:r>
            <a:r>
              <a:rPr lang="he-IL" sz="2500" dirty="0" smtClean="0"/>
              <a:t>האנשים </a:t>
            </a:r>
            <a:r>
              <a:rPr lang="he-IL" sz="2500" dirty="0"/>
              <a:t>שחשובים לנו בעיקר במצב סכנה או מצב שמנסה </a:t>
            </a:r>
            <a:r>
              <a:rPr lang="he-IL" sz="2500" dirty="0" smtClean="0"/>
              <a:t>להפריד אותנו</a:t>
            </a:r>
            <a:r>
              <a:rPr lang="he-IL" sz="2500" dirty="0" smtClean="0"/>
              <a:t>.</a:t>
            </a:r>
          </a:p>
          <a:p>
            <a:pPr algn="r" rtl="1">
              <a:defRPr/>
            </a:pPr>
            <a:r>
              <a:rPr lang="he-IL" sz="2500" dirty="0" smtClean="0"/>
              <a:t>והשיר הוא גם על </a:t>
            </a:r>
            <a:r>
              <a:rPr lang="he-IL" sz="2500" dirty="0" smtClean="0"/>
              <a:t>חוסר </a:t>
            </a:r>
            <a:r>
              <a:rPr lang="he-IL" sz="2500" dirty="0"/>
              <a:t>בחירה ושליטה על המצבים שאליהם </a:t>
            </a:r>
            <a:r>
              <a:rPr lang="he-IL" sz="2500" dirty="0" smtClean="0"/>
              <a:t>אנחנו נכנסים. </a:t>
            </a:r>
            <a:endParaRPr sz="2500" dirty="0"/>
          </a:p>
          <a:p>
            <a:pPr algn="r" rtl="1">
              <a:defRPr/>
            </a:pPr>
            <a:r>
              <a:rPr lang="he-IL" sz="2500" dirty="0" smtClean="0"/>
              <a:t>ועל </a:t>
            </a:r>
            <a:r>
              <a:rPr lang="he-IL" sz="2500" dirty="0"/>
              <a:t>איך שבני האדם </a:t>
            </a:r>
            <a:r>
              <a:rPr lang="he-IL" sz="2500" dirty="0" smtClean="0"/>
              <a:t>עושים מאמץ </a:t>
            </a:r>
            <a:r>
              <a:rPr lang="he-IL" sz="2500" dirty="0"/>
              <a:t>אקטיבי להישאר ביחד </a:t>
            </a:r>
            <a:r>
              <a:rPr lang="he-IL" sz="2500" dirty="0" smtClean="0"/>
              <a:t>רק כשאנחנו </a:t>
            </a:r>
            <a:r>
              <a:rPr lang="he-IL" sz="2500" dirty="0"/>
              <a:t>מול </a:t>
            </a:r>
            <a:r>
              <a:rPr lang="he-IL" sz="2500" dirty="0" smtClean="0"/>
              <a:t>איום ואפילו אז המאמץ הוא לא מאוד גדול.</a:t>
            </a:r>
            <a:endParaRPr sz="2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500" advClick="1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895806" name="Title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</p:spPr>
        <p:txBody>
          <a:bodyPr/>
          <a:lstStyle/>
          <a:p>
            <a:pPr algn="ctr">
              <a:defRPr/>
            </a:pPr>
            <a:r>
              <a:rPr lang="he-IL" dirty="0"/>
              <a:t>אמצעים אומנותיים</a:t>
            </a:r>
            <a:endParaRPr dirty="0"/>
          </a:p>
        </p:txBody>
      </p:sp>
      <p:sp>
        <p:nvSpPr>
          <p:cNvPr id="869913391" name="Content Placeholder 2"/>
          <p:cNvSpPr>
            <a:spLocks noGrp="1"/>
          </p:cNvSpPr>
          <p:nvPr>
            <p:ph idx="1"/>
          </p:nvPr>
        </p:nvSpPr>
        <p:spPr bwMode="auto">
          <a:xfrm>
            <a:off x="360485" y="1825624"/>
            <a:ext cx="11369876" cy="4351338"/>
          </a:xfrm>
        </p:spPr>
        <p:txBody>
          <a:bodyPr>
            <a:normAutofit/>
          </a:bodyPr>
          <a:lstStyle/>
          <a:p>
            <a:pPr algn="r" rtl="1">
              <a:buFont typeface="Arial" panose="020B0604020202020204" pitchFamily="34" charset="0"/>
              <a:buChar char="•"/>
              <a:defRPr/>
            </a:pPr>
            <a:r>
              <a:rPr lang="he-IL" sz="2200" dirty="0" smtClean="0"/>
              <a:t>ניגוד: (שם השיר גרם לי </a:t>
            </a:r>
            <a:r>
              <a:rPr lang="he-IL" sz="2200" dirty="0"/>
              <a:t>לצפות </a:t>
            </a:r>
            <a:r>
              <a:rPr lang="he-IL" sz="2200" dirty="0" smtClean="0"/>
              <a:t>לשיר שמח, אך השיר </a:t>
            </a:r>
            <a:r>
              <a:rPr lang="he-IL" sz="2200" dirty="0"/>
              <a:t>בהחלט לא </a:t>
            </a:r>
            <a:r>
              <a:rPr lang="he-IL" sz="2200" dirty="0" smtClean="0"/>
              <a:t>שמ</a:t>
            </a:r>
            <a:r>
              <a:rPr lang="he-IL" sz="2200" dirty="0" smtClean="0"/>
              <a:t>ח.)</a:t>
            </a:r>
            <a:endParaRPr lang="en-US" sz="2200" dirty="0"/>
          </a:p>
          <a:p>
            <a:pPr algn="r" rtl="1">
              <a:buFont typeface="Arial" panose="020B0604020202020204" pitchFamily="34" charset="0"/>
              <a:buChar char="•"/>
              <a:defRPr/>
            </a:pPr>
            <a:r>
              <a:rPr lang="he-IL" sz="2200" dirty="0" smtClean="0"/>
              <a:t>דימוי: (הזוג מדומה לבובות של חתן וכלה. נעשה שימוש בכ' הדימוי</a:t>
            </a:r>
            <a:r>
              <a:rPr lang="en-US" sz="2200" dirty="0" smtClean="0"/>
              <a:t>,</a:t>
            </a:r>
            <a:r>
              <a:rPr lang="he-IL" sz="2200" dirty="0" smtClean="0"/>
              <a:t> “כמו </a:t>
            </a:r>
            <a:r>
              <a:rPr lang="he-IL" sz="2200" dirty="0"/>
              <a:t>בובות חתן כלה</a:t>
            </a:r>
            <a:r>
              <a:rPr lang="he-IL" sz="2200" dirty="0" smtClean="0"/>
              <a:t>”</a:t>
            </a:r>
            <a:r>
              <a:rPr lang="he-IL" sz="2200" dirty="0" smtClean="0"/>
              <a:t>.)</a:t>
            </a:r>
            <a:endParaRPr lang="en-US" sz="2200" dirty="0"/>
          </a:p>
          <a:p>
            <a:pPr algn="r" rtl="1">
              <a:buFont typeface="Arial" panose="020B0604020202020204" pitchFamily="34" charset="0"/>
              <a:buChar char="•"/>
              <a:defRPr/>
            </a:pPr>
            <a:r>
              <a:rPr lang="he-IL" sz="2200" dirty="0" smtClean="0"/>
              <a:t>לשון ציורית: (השיר </a:t>
            </a:r>
            <a:r>
              <a:rPr lang="he-IL" sz="2200" dirty="0"/>
              <a:t>משתמש בלשון ציורית שממש נותנת לדמיין את העולם של </a:t>
            </a:r>
            <a:r>
              <a:rPr lang="he-IL" sz="2200" dirty="0" smtClean="0"/>
              <a:t>השיר.)</a:t>
            </a:r>
            <a:endParaRPr lang="en-US" sz="2200" dirty="0"/>
          </a:p>
          <a:p>
            <a:pPr algn="r" rtl="1">
              <a:buFont typeface="Arial" panose="020B0604020202020204" pitchFamily="34" charset="0"/>
              <a:buChar char="•"/>
              <a:defRPr/>
            </a:pPr>
            <a:r>
              <a:rPr lang="he-IL" sz="2200" dirty="0" smtClean="0"/>
              <a:t>ניגוד: (מעבר </a:t>
            </a:r>
            <a:r>
              <a:rPr lang="he-IL" sz="2200" dirty="0"/>
              <a:t>בין פסיביות לאקטיביות כאשר הסכנה </a:t>
            </a:r>
            <a:r>
              <a:rPr lang="he-IL" sz="2200" dirty="0" smtClean="0"/>
              <a:t>מתקיימת</a:t>
            </a:r>
            <a:r>
              <a:rPr lang="he-IL" sz="2200" dirty="0"/>
              <a:t>)</a:t>
            </a:r>
            <a:endParaRPr lang="en-US" sz="2200" dirty="0"/>
          </a:p>
          <a:p>
            <a:pPr algn="r" rtl="1">
              <a:buFont typeface="Arial" panose="020B0604020202020204" pitchFamily="34" charset="0"/>
              <a:buChar char="•"/>
              <a:defRPr/>
            </a:pPr>
            <a:r>
              <a:rPr lang="he-IL" sz="2200" dirty="0" smtClean="0"/>
              <a:t>ניגוד: (השיר אמור להיות שמח כמו בחתונה אבל עדיין אין הרגשה של ביטחון בגלל הסכין שאולי תבוא.)</a:t>
            </a:r>
            <a:endParaRPr lang="he-IL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500" advClick="1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213</Words>
  <Application>Microsoft Office PowerPoint</Application>
  <PresentationFormat>מסך רחב</PresentationFormat>
  <Paragraphs>20</Paragraphs>
  <Slides>4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7" baseType="lpstr">
      <vt:lpstr>Arial</vt:lpstr>
      <vt:lpstr>Times New Roman</vt:lpstr>
      <vt:lpstr>Office Theme</vt:lpstr>
      <vt:lpstr>על ידי: יותם גפן</vt:lpstr>
      <vt:lpstr>מילים:</vt:lpstr>
      <vt:lpstr>משמעות השיר:</vt:lpstr>
      <vt:lpstr>אמצעים אומנותיים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על ידי: יותם גפן</dc:title>
  <dc:creator/>
  <cp:lastModifiedBy>גוונים</cp:lastModifiedBy>
  <cp:revision>12</cp:revision>
  <dcterms:modified xsi:type="dcterms:W3CDTF">2026-05-26T07:35:18Z</dcterms:modified>
</cp:coreProperties>
</file>